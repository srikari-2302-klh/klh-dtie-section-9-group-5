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1828800" cy="1828800"/>
          </a:xfrm>
          <a:prstGeom prst="ellipse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965960"/>
            <a:ext cx="1188720" cy="1188720"/>
          </a:xfrm>
          <a:prstGeom prst="ellipse">
            <a:avLst/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01000" y="3063240"/>
            <a:ext cx="685800" cy="685800"/>
          </a:xfrm>
          <a:prstGeom prst="ellipse">
            <a:avLst/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86200"/>
            <a:ext cx="1645920" cy="1645920"/>
          </a:xfrm>
          <a:prstGeom prst="ellipse">
            <a:avLst/>
          </a:prstGeom>
          <a:solidFill>
            <a:srgbClr val="1E3352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9052560" y="1645920"/>
            <a:ext cx="914400" cy="82296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412480" y="2468880"/>
            <a:ext cx="1554480" cy="91440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3383280"/>
            <a:ext cx="2286000" cy="100584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640080"/>
            <a:ext cx="5303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B8A6"/>
                </a:solidFill>
                <a:latin typeface="Aptos"/>
              </a:rPr>
              <a:t>DTIE  |  END SEMESTER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6766560" cy="1554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300" b="1" i="0">
                <a:solidFill>
                  <a:srgbClr val="FFFFFF"/>
                </a:solidFill>
                <a:latin typeface="Aptos"/>
              </a:rPr>
              <a:t>AI-DRIVEN</a:t>
            </a:r>
          </a:p>
          <a:p>
            <a:pPr algn="l">
              <a:spcAft>
                <a:spcPts val="500"/>
              </a:spcAft>
            </a:pPr>
            <a:r>
              <a:rPr sz="3300" b="1" i="0">
                <a:solidFill>
                  <a:srgbClr val="FFFFFF"/>
                </a:solidFill>
                <a:latin typeface="Aptos"/>
              </a:rPr>
              <a:t>CAMPUS NAVIGATOR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57607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 i="0">
                <a:solidFill>
                  <a:srgbClr val="DCF8F1"/>
                </a:solidFill>
                <a:latin typeface="Aptos"/>
              </a:rPr>
              <a:t>Find your place. Find your 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069080"/>
            <a:ext cx="56692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DDAE7"/>
                </a:solidFill>
                <a:latin typeface="Aptos"/>
              </a:rPr>
              <a:t>A student-first campus guide for locations, class schedules and smarter routes.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5230368"/>
            <a:ext cx="1965960" cy="475488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" y="5321808"/>
            <a:ext cx="1737360" cy="2092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1000" b="1" dirty="0">
                <a:solidFill>
                  <a:srgbClr val="14233D"/>
                </a:solidFill>
                <a:latin typeface="Aptos"/>
              </a:rPr>
              <a:t>GROUP 5</a:t>
            </a:r>
            <a:endParaRPr sz="1000" b="1" i="0" dirty="0">
              <a:solidFill>
                <a:srgbClr val="14233D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69880" y="6217920"/>
            <a:ext cx="9144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Team 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47548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2B8A6"/>
                </a:solidFill>
                <a:latin typeface="Aptos"/>
              </a:rPr>
              <a:t>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493776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4233D"/>
                </a:solidFill>
                <a:latin typeface="Aptos"/>
              </a:rPr>
              <a:t>A multidisciplinary team building a simpler campus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8036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27048" y="3154679"/>
            <a:ext cx="731520" cy="731520"/>
          </a:xfrm>
          <a:prstGeom prst="ellipse">
            <a:avLst/>
          </a:prstGeom>
          <a:solidFill>
            <a:srgbClr val="DCF8F1"/>
          </a:solidFill>
          <a:ln>
            <a:solidFill>
              <a:srgbClr val="DC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22B8A6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878"/>
            <a:ext cx="210312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1600" dirty="0">
                <a:solidFill>
                  <a:srgbClr val="687787"/>
                </a:solidFill>
                <a:latin typeface="Aptos"/>
              </a:rPr>
              <a:t>Mangipudi Haasini   2620030081</a:t>
            </a:r>
            <a:endParaRPr sz="1600" b="0" i="0" dirty="0">
              <a:solidFill>
                <a:srgbClr val="687787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0" y="288036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98848" y="3154679"/>
            <a:ext cx="731520" cy="731520"/>
          </a:xfrm>
          <a:prstGeom prst="ellipse">
            <a:avLst/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4760" y="331012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4233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960437"/>
            <a:ext cx="2103120" cy="61196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1600" dirty="0">
                <a:solidFill>
                  <a:srgbClr val="687787"/>
                </a:solidFill>
                <a:latin typeface="Aptos"/>
              </a:rPr>
              <a:t>Vyshnavi </a:t>
            </a:r>
          </a:p>
          <a:p>
            <a:pPr algn="ctr">
              <a:spcAft>
                <a:spcPts val="500"/>
              </a:spcAft>
            </a:pPr>
            <a:r>
              <a:rPr lang="en-US" sz="1600" b="0" i="0" dirty="0">
                <a:solidFill>
                  <a:srgbClr val="687787"/>
                </a:solidFill>
                <a:latin typeface="Aptos"/>
              </a:rPr>
              <a:t>2620030114</a:t>
            </a:r>
            <a:endParaRPr sz="1600" b="0" i="0" dirty="0">
              <a:solidFill>
                <a:srgbClr val="687787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29400" y="288036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70648" y="3154679"/>
            <a:ext cx="731520" cy="731520"/>
          </a:xfrm>
          <a:prstGeom prst="ellipse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31012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816B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978326"/>
            <a:ext cx="2103120" cy="61196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1600" dirty="0">
                <a:solidFill>
                  <a:srgbClr val="687787"/>
                </a:solidFill>
                <a:latin typeface="Aptos"/>
              </a:rPr>
              <a:t>Srikari</a:t>
            </a:r>
          </a:p>
          <a:p>
            <a:pPr algn="ctr">
              <a:spcAft>
                <a:spcPts val="500"/>
              </a:spcAft>
            </a:pPr>
            <a:r>
              <a:rPr lang="en-US" sz="1600" b="0" i="0" dirty="0">
                <a:solidFill>
                  <a:srgbClr val="687787"/>
                </a:solidFill>
                <a:latin typeface="Aptos"/>
              </a:rPr>
              <a:t>2620040009</a:t>
            </a:r>
            <a:endParaRPr sz="1600" b="0" i="0" dirty="0">
              <a:solidFill>
                <a:srgbClr val="687787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601200" y="2880360"/>
            <a:ext cx="2423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442448" y="3154679"/>
            <a:ext cx="731520" cy="731520"/>
          </a:xfrm>
          <a:prstGeom prst="ellipse">
            <a:avLst/>
          </a:prstGeom>
          <a:solidFill>
            <a:srgbClr val="ECE7FA"/>
          </a:solidFill>
          <a:ln>
            <a:solidFill>
              <a:srgbClr val="EC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3310128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1E335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3960038"/>
            <a:ext cx="2103120" cy="61196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1600" dirty="0">
                <a:solidFill>
                  <a:srgbClr val="687787"/>
                </a:solidFill>
                <a:latin typeface="Aptos"/>
              </a:rPr>
              <a:t>Vishnupriya</a:t>
            </a:r>
          </a:p>
          <a:p>
            <a:pPr algn="ctr">
              <a:spcAft>
                <a:spcPts val="500"/>
              </a:spcAft>
            </a:pPr>
            <a:r>
              <a:rPr lang="en-US" sz="1600" b="0" i="0" dirty="0">
                <a:solidFill>
                  <a:srgbClr val="687787"/>
                </a:solidFill>
                <a:latin typeface="Aptos"/>
              </a:rPr>
              <a:t>2620040052</a:t>
            </a:r>
            <a:endParaRPr sz="1600" b="0" i="0" dirty="0">
              <a:solidFill>
                <a:srgbClr val="68778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Vision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03520" cy="41605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4805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2B8A6"/>
                </a:solidFill>
                <a:latin typeface="Aptos"/>
              </a:rPr>
              <a:t>OUR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443484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Make every campus visit feel intuitive, confident and connected.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38912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CDBE7"/>
                </a:solidFill>
                <a:latin typeface="Aptos"/>
              </a:rPr>
              <a:t>A campus where no student or visitor feels lost.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38912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2B8A6"/>
                </a:solidFill>
                <a:latin typeface="Aptos"/>
              </a:rPr>
              <a:t>OUR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14600"/>
            <a:ext cx="228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2B8A6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2514600"/>
            <a:ext cx="420624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3140"/>
                </a:solidFill>
                <a:latin typeface="Aptos"/>
              </a:rPr>
              <a:t>Help students locate classrooms, faculty and campus facilities.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82112"/>
            <a:ext cx="228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2B8A6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182112"/>
            <a:ext cx="420624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3140"/>
                </a:solidFill>
                <a:latin typeface="Aptos"/>
              </a:rPr>
              <a:t>Show the next class and its location in one place.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9624"/>
            <a:ext cx="228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2B8A6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3849624"/>
            <a:ext cx="420624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3140"/>
                </a:solidFill>
                <a:latin typeface="Aptos"/>
              </a:rPr>
              <a:t>Suggest clear, efficient routes between campus destinations.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17136"/>
            <a:ext cx="228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2B8A6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4517136"/>
            <a:ext cx="4206240" cy="6675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3140"/>
                </a:solidFill>
                <a:latin typeface="Aptos"/>
              </a:rPr>
              <a:t>Make campus navigation easier for freshers and visitors.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4389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816B"/>
                </a:solidFill>
                <a:latin typeface="Aptos"/>
              </a:rPr>
              <a:t>DESIGN PRINCIPLE: CLARITY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0704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14233D"/>
                </a:solidFill>
                <a:latin typeface="Aptos"/>
              </a:rPr>
              <a:t>Campus information is often scattered across maps, notices and informal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34290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73152" cy="2194560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67919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01 • FINDING PLACES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81528"/>
            <a:ext cx="3044952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New students may struggle to identify the correct block, classroom or faculty room.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14600"/>
            <a:ext cx="34290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2514600"/>
            <a:ext cx="73152" cy="2194560"/>
          </a:xfrm>
          <a:prstGeom prst="roundRect">
            <a:avLst>
              <a:gd name="adj" fmla="val 12000"/>
            </a:avLst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67919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02 • TIME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081528"/>
            <a:ext cx="3044952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Students need to reach their next class quickly, especially when buildings are unfamiliar.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514600"/>
            <a:ext cx="34290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0" y="2514600"/>
            <a:ext cx="73152" cy="2194560"/>
          </a:xfrm>
          <a:prstGeom prst="roundRect">
            <a:avLst>
              <a:gd name="adj" fmla="val 12000"/>
            </a:avLst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67919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03 • FRAGMENTED 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081528"/>
            <a:ext cx="3044952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Location details and class schedules may not be available in one convenient interface.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744200" cy="777240"/>
          </a:xfrm>
          <a:prstGeom prst="roundRect">
            <a:avLst>
              <a:gd name="adj" fmla="val 12000"/>
            </a:avLst>
          </a:prstGeom>
          <a:solidFill>
            <a:srgbClr val="DCF8F1"/>
          </a:solidFill>
          <a:ln>
            <a:solidFill>
              <a:srgbClr val="DC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76088"/>
            <a:ext cx="1024128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4233D"/>
                </a:solidFill>
                <a:latin typeface="Aptos"/>
              </a:rPr>
              <a:t>Design challenge: How might we help campus users find the right place and route with less confusion?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Research, Facts &amp; Market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FF816B"/>
                </a:solidFill>
                <a:latin typeface="Aptos"/>
              </a:rPr>
              <a:t>EARLY DISCOVERY  •  HYPOTHESES TO 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73152" cy="2057400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USER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3044952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Quick access to building, room, faculty and timetable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73152" cy="2057400"/>
          </a:xfrm>
          <a:prstGeom prst="roundRect">
            <a:avLst>
              <a:gd name="adj" fmla="val 12000"/>
            </a:avLst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USAGE MOMENTS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487168"/>
            <a:ext cx="3044952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First campus visit, room changes, class transitions and finding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4290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73152" cy="2057400"/>
          </a:xfrm>
          <a:prstGeom prst="roundRect">
            <a:avLst>
              <a:gd name="adj" fmla="val 12000"/>
            </a:avLst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OPPORTUNITY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487168"/>
            <a:ext cx="3044952" cy="1371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A campus-specific layer can organize information around student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744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590288"/>
            <a:ext cx="19202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2B8A6"/>
                </a:solidFill>
                <a:latin typeface="Aptos"/>
              </a:rPr>
              <a:t>VALIDATION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553712"/>
            <a:ext cx="822960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63140"/>
                </a:solidFill>
                <a:latin typeface="Aptos"/>
              </a:rPr>
              <a:t>Survey students and freshers • Interview visitors • Map common destinations • Test route clarity • Measure task completion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87787"/>
                </a:solidFill>
                <a:latin typeface="Aptos"/>
              </a:rPr>
              <a:t>Note: No survey results or market-size figures are claimed yet; collect primary data to substantiate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Target Users / Customers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73152" cy="3337560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PRIMARY • FRESHERS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58568"/>
            <a:ext cx="3044952" cy="2651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New to campus layout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Need orientation and destination search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Benefit from simple, step-by-step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73152" cy="3337560"/>
          </a:xfrm>
          <a:prstGeom prst="roundRect">
            <a:avLst>
              <a:gd name="adj" fmla="val 12000"/>
            </a:avLst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PRIMARY • EXISTING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58568"/>
            <a:ext cx="3044952" cy="2651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Need to locate the next class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Need faculty / classroom directions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Want to move efficiently between blocks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691640"/>
            <a:ext cx="73152" cy="3337560"/>
          </a:xfrm>
          <a:prstGeom prst="roundRect">
            <a:avLst>
              <a:gd name="adj" fmla="val 12000"/>
            </a:avLst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56232"/>
            <a:ext cx="30632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SECONDARY • VISITORS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58568"/>
            <a:ext cx="3044952" cy="2651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May not know building names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Need event, office or meeting locations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687787"/>
                </a:solidFill>
                <a:latin typeface="Aptos"/>
              </a:rPr>
              <a:t>• Need clear directions on arrival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10744200" cy="59436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solidFill>
              <a:srgbClr val="E6EF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559552"/>
            <a:ext cx="10149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233D"/>
                </a:solidFill>
                <a:latin typeface="Aptos"/>
              </a:rPr>
              <a:t>Out of scope for the initial version: staff-focused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Competitors /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148840" cy="5029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92938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OPTION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691640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72968" y="1810512"/>
            <a:ext cx="229514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WHAT IT DOES WELL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691640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16168" y="1810512"/>
            <a:ext cx="229514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POTENTIAL LIMIT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69164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9367" y="1810512"/>
            <a:ext cx="2706624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OUR DIFFERENTIATOR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31720"/>
            <a:ext cx="2148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2441448"/>
            <a:ext cx="192938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3140"/>
                </a:solidFill>
                <a:latin typeface="Aptos"/>
              </a:rPr>
              <a:t>General map 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2331720"/>
            <a:ext cx="25146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72968" y="2441448"/>
            <a:ext cx="229514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Outdoor directions and familiar map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2331720"/>
            <a:ext cx="25146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16168" y="2441448"/>
            <a:ext cx="229514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May not contain detailed room-level campus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331720"/>
            <a:ext cx="292608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59367" y="2441448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Campus-specific destinations and routes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39"/>
            <a:ext cx="2148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3401568"/>
            <a:ext cx="192938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3140"/>
                </a:solidFill>
                <a:latin typeface="Aptos"/>
              </a:rPr>
              <a:t>Notice boards / PDFs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291839"/>
            <a:ext cx="25146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72968" y="3401568"/>
            <a:ext cx="229514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Official announcements and schedules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291839"/>
            <a:ext cx="25146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16168" y="3401568"/>
            <a:ext cx="229514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Information can be spread across 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3291839"/>
            <a:ext cx="292608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59367" y="3401568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One searchable student-facing experience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51960"/>
            <a:ext cx="2148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4361688"/>
            <a:ext cx="192938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63140"/>
                </a:solidFill>
                <a:latin typeface="Aptos"/>
              </a:rPr>
              <a:t>Asking peers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63240" y="4251960"/>
            <a:ext cx="25146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72968" y="4361688"/>
            <a:ext cx="229514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Fast human help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4251960"/>
            <a:ext cx="25146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16168" y="4361688"/>
            <a:ext cx="229514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Availability and directions vary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4251960"/>
            <a:ext cx="292608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59367" y="4361688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Self-service guidance at any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87787"/>
                </a:solidFill>
                <a:latin typeface="Aptos"/>
              </a:rPr>
              <a:t>Benchmarking is qualitative. Confirm features and campus coverage during prototype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Risks &amp;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442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82296" cy="841248"/>
          </a:xfrm>
          <a:prstGeom prst="roundRect">
            <a:avLst>
              <a:gd name="adj" fmla="val 12000"/>
            </a:avLst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64792"/>
            <a:ext cx="19659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DATA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55648"/>
            <a:ext cx="3154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3140"/>
                </a:solidFill>
                <a:latin typeface="Aptos"/>
              </a:rPr>
              <a:t>Incorrect room or faculty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55648"/>
            <a:ext cx="48920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Use verified campus data and assign update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7442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82296" cy="841248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2816352"/>
            <a:ext cx="19659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MAP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07208"/>
            <a:ext cx="3154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3140"/>
                </a:solidFill>
                <a:latin typeface="Aptos"/>
              </a:rPr>
              <a:t>Missing paths, entrances or floor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07208"/>
            <a:ext cx="48920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Start with a validated map of high-use locations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107442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82296" cy="841248"/>
          </a:xfrm>
          <a:prstGeom prst="roundRect">
            <a:avLst>
              <a:gd name="adj" fmla="val 12000"/>
            </a:avLst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3867911"/>
            <a:ext cx="19659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SCHEDULE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3154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3140"/>
                </a:solidFill>
                <a:latin typeface="Aptos"/>
              </a:rPr>
              <a:t>Timetable data may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58768"/>
            <a:ext cx="48920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Use user-confirmed schedules or an approved data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00600"/>
            <a:ext cx="1074420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4800600"/>
            <a:ext cx="82296" cy="841248"/>
          </a:xfrm>
          <a:prstGeom prst="roundRect">
            <a:avLst>
              <a:gd name="adj" fmla="val 12000"/>
            </a:avLst>
          </a:prstGeom>
          <a:solidFill>
            <a:srgbClr val="1E3352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919472"/>
            <a:ext cx="19659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CONNECTIVITY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910328"/>
            <a:ext cx="31546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3140"/>
                </a:solidFill>
                <a:latin typeface="Aptos"/>
              </a:rPr>
              <a:t>Weak network in some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10328"/>
            <a:ext cx="48920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Keep key location details lightweight; assess offline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89320"/>
            <a:ext cx="10515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FF816B"/>
                </a:solidFill>
                <a:latin typeface="Aptos"/>
              </a:rPr>
              <a:t>Key gap to close first: a reliable, structured campus map and destination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Concept / Product /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4233D"/>
                </a:solidFill>
                <a:latin typeface="Aptos"/>
              </a:rPr>
              <a:t>A single student-first interface for campus discovery and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235915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496312"/>
            <a:ext cx="49377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50008"/>
            <a:ext cx="3840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233D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15768"/>
            <a:ext cx="3840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Search buildings, rooms, faculty and facilities.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235915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496312"/>
            <a:ext cx="49377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50008"/>
            <a:ext cx="3840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233D"/>
                </a:solidFill>
                <a:latin typeface="Aptos"/>
              </a:rPr>
              <a:t>NEXT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15768"/>
            <a:ext cx="3840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View the next class and its destination.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395935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096511"/>
            <a:ext cx="49377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50207"/>
            <a:ext cx="3840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233D"/>
                </a:solidFill>
                <a:latin typeface="Aptos"/>
              </a:rPr>
              <a:t>SMART 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315968"/>
            <a:ext cx="3840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Get a clear route between two campus points.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507492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0" y="3959352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E3352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4096511"/>
            <a:ext cx="493776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50207"/>
            <a:ext cx="3840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233D"/>
                </a:solidFill>
                <a:latin typeface="Aptos"/>
              </a:rPr>
              <a:t>CAMPUS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315968"/>
            <a:ext cx="38404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Offer a simple orientation flow for freshers and visitors.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77840"/>
            <a:ext cx="10744200" cy="475488"/>
          </a:xfrm>
          <a:prstGeom prst="roundRect">
            <a:avLst>
              <a:gd name="adj" fmla="val 12000"/>
            </a:avLst>
          </a:prstGeom>
          <a:solidFill>
            <a:srgbClr val="DCF8F1"/>
          </a:solidFill>
          <a:ln>
            <a:solidFill>
              <a:srgbClr val="DC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705856"/>
            <a:ext cx="102412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233D"/>
                </a:solidFill>
                <a:latin typeface="Aptos"/>
              </a:rPr>
              <a:t>MVP PRIORITY: destination search + campus map + route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Storyboard /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08760" y="2057400"/>
            <a:ext cx="658368" cy="658368"/>
          </a:xfrm>
          <a:prstGeom prst="ellipse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258568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80360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4233D"/>
                </a:solidFill>
                <a:latin typeface="Aptos"/>
              </a:rPr>
              <a:t>CHOOSE 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218688"/>
            <a:ext cx="2139696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87787"/>
                </a:solidFill>
                <a:latin typeface="Aptos"/>
              </a:rPr>
              <a:t>Search for a room, faculty member or facility.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542032"/>
            <a:ext cx="365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2B8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18288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2057400"/>
            <a:ext cx="658368" cy="658368"/>
          </a:xfrm>
          <a:prstGeom prst="ellipse">
            <a:avLst/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2258568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880360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4233D"/>
                </a:solidFill>
                <a:latin typeface="Aptos"/>
              </a:rPr>
              <a:t>GET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1" y="3218688"/>
            <a:ext cx="2139696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87787"/>
                </a:solidFill>
                <a:latin typeface="Aptos"/>
              </a:rPr>
              <a:t>See destination details and, where available, next-class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2542032"/>
            <a:ext cx="365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2B8A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269480" y="2057400"/>
            <a:ext cx="658368" cy="658368"/>
          </a:xfrm>
          <a:prstGeom prst="ellipse">
            <a:avLst/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2258568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4233D"/>
                </a:solidFill>
                <a:latin typeface="Aptos"/>
              </a:rPr>
              <a:t>FOLLOW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218688"/>
            <a:ext cx="2139696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87787"/>
                </a:solidFill>
                <a:latin typeface="Aptos"/>
              </a:rPr>
              <a:t>View a route between current point and destination.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2542032"/>
            <a:ext cx="365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2B8A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1828800"/>
            <a:ext cx="24688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149839" y="2057400"/>
            <a:ext cx="658368" cy="658368"/>
          </a:xfrm>
          <a:prstGeom prst="ellipse">
            <a:avLst/>
          </a:prstGeom>
          <a:solidFill>
            <a:srgbClr val="1E3352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86999" y="2258568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880360"/>
            <a:ext cx="21031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14233D"/>
                </a:solidFill>
                <a:latin typeface="Aptos"/>
              </a:rPr>
              <a:t>ARRIVE &amp;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1" y="3218688"/>
            <a:ext cx="2139696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 i="0">
                <a:solidFill>
                  <a:srgbClr val="687787"/>
                </a:solidFill>
                <a:latin typeface="Aptos"/>
              </a:rPr>
              <a:t>Confirm arrival; report missing or outdated information.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160520"/>
            <a:ext cx="10744200" cy="1234440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407408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2B8A6"/>
                </a:solidFill>
                <a:latin typeface="Aptos"/>
              </a:rPr>
              <a:t>USER 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754880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Search + map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407408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2B8A6"/>
                </a:solidFill>
                <a:latin typeface="Aptos"/>
              </a:rPr>
              <a:t>APPLICATION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754880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Search + route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407408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2B8A6"/>
                </a:solidFill>
                <a:latin typeface="Aptos"/>
              </a:rPr>
              <a:t>CAMPUS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4754880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Buildings + rooms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407408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22B8A6"/>
                </a:solidFill>
                <a:latin typeface="Aptos"/>
              </a:rPr>
              <a:t>SCHEDULE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4754880"/>
            <a:ext cx="2057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Classes + timings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23560"/>
            <a:ext cx="10424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87787"/>
                </a:solidFill>
                <a:latin typeface="Aptos"/>
              </a:rPr>
              <a:t>Architecture is a proposed MVP model; implementation choices can change after feasibility testing.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Lean Canvas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74650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2140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Hard-to-find rooms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Scattered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60020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81528" y="174650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816B"/>
                </a:solidFill>
                <a:latin typeface="Apto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12140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Search + campus map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Route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60020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67528" y="174650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C55C"/>
                </a:solidFill>
                <a:latin typeface="Aptos"/>
              </a:rPr>
              <a:t>UNIQUE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12140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Find the right place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with less confusion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60020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3527" y="174650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1E3352"/>
                </a:solidFill>
                <a:latin typeface="Aptos"/>
              </a:rP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7" y="212140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Freshers + students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Visitors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6002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39528" y="1746504"/>
            <a:ext cx="14264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9528" y="2121408"/>
            <a:ext cx="142646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Campus QR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Student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3756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48386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KEY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85876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Search success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Time to destination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33756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81528" y="348386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816B"/>
                </a:solidFill>
                <a:latin typeface="Aptos"/>
              </a:rPr>
              <a:t>ADVANTAGE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85876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Campus-specific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verified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333756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67528" y="348386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C55C"/>
                </a:solidFill>
                <a:latin typeface="Aptos"/>
              </a:rPr>
              <a:t>COSTS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528" y="385876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Development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Data maintenance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33756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53527" y="3483864"/>
            <a:ext cx="192938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1E3352"/>
                </a:solidFill>
                <a:latin typeface="Aptos"/>
              </a:rPr>
              <a:t>SUSTAINABILITY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7" y="3858768"/>
            <a:ext cx="192938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Institution support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Potential campus license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333756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39528" y="3483864"/>
            <a:ext cx="142646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EARLY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3858768"/>
            <a:ext cx="1426464" cy="8412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Pilot on one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63140"/>
                </a:solidFill>
                <a:latin typeface="Aptos"/>
              </a:rPr>
              <a:t>campus zone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57800"/>
            <a:ext cx="105156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87787"/>
                </a:solidFill>
                <a:latin typeface="Aptos"/>
              </a:rPr>
              <a:t>Business model and sustainability options are hypotheses to test with the institution—not confirmed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Capital (Financial)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51560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687787"/>
                </a:solidFill>
                <a:latin typeface="Aptos"/>
              </a:rPr>
              <a:t>Illustrative student-project MVP budget (INR) — planning estimate, not a vendor quote.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744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Prototype UI /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57984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B8A6"/>
                </a:solidFill>
                <a:latin typeface="Aptos"/>
              </a:rPr>
              <a:t>₹0–₹2,000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130552"/>
            <a:ext cx="5257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787"/>
                </a:solidFill>
                <a:latin typeface="Aptos"/>
              </a:rPr>
              <a:t>Use student tools and editable mock-ups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24912"/>
            <a:ext cx="10744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71216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Map &amp; campus 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871216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B8A6"/>
                </a:solidFill>
                <a:latin typeface="Aptos"/>
              </a:rPr>
              <a:t>₹0–₹3,000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843784"/>
            <a:ext cx="5257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787"/>
                </a:solidFill>
                <a:latin typeface="Aptos"/>
              </a:rPr>
              <a:t>Depends on source data and digitization effort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10744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584448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Hosting / database trial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84448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B8A6"/>
                </a:solidFill>
                <a:latin typeface="Aptos"/>
              </a:rPr>
              <a:t>₹0–₹2,000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557016"/>
            <a:ext cx="5257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787"/>
                </a:solidFill>
                <a:latin typeface="Aptos"/>
              </a:rPr>
              <a:t>Free tiers may be sufficient for a small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51376"/>
            <a:ext cx="107442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297680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4233D"/>
                </a:solidFill>
                <a:latin typeface="Aptos"/>
              </a:rPr>
              <a:t>Testing &amp;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297680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B8A6"/>
                </a:solidFill>
                <a:latin typeface="Aptos"/>
              </a:rPr>
              <a:t>₹500–₹1,500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270248"/>
            <a:ext cx="52578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87787"/>
                </a:solidFill>
                <a:latin typeface="Aptos"/>
              </a:rPr>
              <a:t>Printing, QR cards or demo materials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66360"/>
            <a:ext cx="10744200" cy="713232"/>
          </a:xfrm>
          <a:prstGeom prst="roundRect">
            <a:avLst>
              <a:gd name="adj" fmla="val 12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330952"/>
            <a:ext cx="2103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2B8A6"/>
                </a:solidFill>
                <a:latin typeface="Aptos"/>
              </a:rPr>
              <a:t>ESTIMATED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285232"/>
            <a:ext cx="2011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₹500–₹8,500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321808"/>
            <a:ext cx="57150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D7E2EC"/>
                </a:solidFill>
                <a:latin typeface="Aptos"/>
              </a:rPr>
              <a:t>Can be reduced if existing campus data and free tools are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87782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DTIE • DESIGN THINKING &amp; ENTREPRENEURSHIP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4233D"/>
                </a:solidFill>
                <a:latin typeface="Aptos"/>
              </a:rPr>
              <a:t>Roadmap /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25296"/>
            <a:ext cx="658368" cy="50292"/>
          </a:xfrm>
          <a:prstGeom prst="rect">
            <a:avLst/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519672"/>
            <a:ext cx="77724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AI-DRIVEN CAMPUS NAVIGATOR  •  GROUP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 i="0">
                <a:solidFill>
                  <a:srgbClr val="687787"/>
                </a:solidFill>
                <a:latin typeface="Aptos"/>
              </a:rP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3774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377440" cy="137160"/>
          </a:xfrm>
          <a:prstGeom prst="roundRect">
            <a:avLst>
              <a:gd name="adj" fmla="val 12000"/>
            </a:avLst>
          </a:prstGeom>
          <a:solidFill>
            <a:srgbClr val="22B8A6"/>
          </a:solidFill>
          <a:ln>
            <a:solidFill>
              <a:srgbClr val="22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22B8A6"/>
                </a:solidFill>
                <a:latin typeface="Apto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51760"/>
            <a:ext cx="2011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18688"/>
            <a:ext cx="2011680" cy="786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Interview users; map key destinations; validate pain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1" y="2743200"/>
            <a:ext cx="274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2B8A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74519"/>
            <a:ext cx="23774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4720" y="1874519"/>
            <a:ext cx="2377440" cy="137160"/>
          </a:xfrm>
          <a:prstGeom prst="roundRect">
            <a:avLst>
              <a:gd name="adj" fmla="val 12000"/>
            </a:avLst>
          </a:prstGeom>
          <a:solidFill>
            <a:srgbClr val="FF816B"/>
          </a:solidFill>
          <a:ln>
            <a:solidFill>
              <a:srgbClr val="FF8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212848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816B"/>
                </a:solidFill>
                <a:latin typeface="Aptos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651760"/>
            <a:ext cx="2011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218688"/>
            <a:ext cx="2011680" cy="786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Create user flows, wireframes and clickable prototype.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743200"/>
            <a:ext cx="274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2B8A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74519"/>
            <a:ext cx="23774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874519"/>
            <a:ext cx="2377440" cy="137160"/>
          </a:xfrm>
          <a:prstGeom prst="roundRect">
            <a:avLst>
              <a:gd name="adj" fmla="val 12000"/>
            </a:avLst>
          </a:prstGeom>
          <a:solidFill>
            <a:srgbClr val="FFC55C"/>
          </a:solidFill>
          <a:ln>
            <a:solidFill>
              <a:srgbClr val="FFC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212848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FFC55C"/>
                </a:solidFill>
                <a:latin typeface="Aptos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651760"/>
            <a:ext cx="2011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BUILD 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218688"/>
            <a:ext cx="2011680" cy="786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Implement search, location records and basic route display.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2792" y="2743200"/>
            <a:ext cx="2743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2B8A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874519"/>
            <a:ext cx="2377440" cy="2468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E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61120" y="1874519"/>
            <a:ext cx="2377440" cy="137160"/>
          </a:xfrm>
          <a:prstGeom prst="roundRect">
            <a:avLst>
              <a:gd name="adj" fmla="val 12000"/>
            </a:avLst>
          </a:prstGeom>
          <a:solidFill>
            <a:srgbClr val="1E3352"/>
          </a:solidFill>
          <a:ln>
            <a:solidFill>
              <a:srgbClr val="1E3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25712" y="2212848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1E3352"/>
                </a:solidFill>
                <a:latin typeface="Aptos"/>
              </a:rP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651760"/>
            <a:ext cx="20116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4233D"/>
                </a:solidFill>
                <a:latin typeface="Aptos"/>
              </a:rPr>
              <a:t>TEST &amp; IMPROVE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3218688"/>
            <a:ext cx="2011680" cy="7863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687787"/>
                </a:solidFill>
                <a:latin typeface="Aptos"/>
              </a:rPr>
              <a:t>Run task tests; fix confusing routes; verify data quality.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92040"/>
            <a:ext cx="10744200" cy="777240"/>
          </a:xfrm>
          <a:prstGeom prst="roundRect">
            <a:avLst>
              <a:gd name="adj" fmla="val 12000"/>
            </a:avLst>
          </a:prstGeom>
          <a:solidFill>
            <a:srgbClr val="DCF8F1"/>
          </a:solidFill>
          <a:ln>
            <a:solidFill>
              <a:srgbClr val="DC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102352"/>
            <a:ext cx="10149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233D"/>
                </a:solidFill>
                <a:latin typeface="Aptos"/>
              </a:rPr>
              <a:t>Success criteria: users find a target location accurately, understand the route, and complete key tasks with less assistance.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97880"/>
            <a:ext cx="10515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1">
                <a:solidFill>
                  <a:srgbClr val="687787"/>
                </a:solidFill>
                <a:latin typeface="Aptos"/>
              </a:rPr>
              <a:t>Timeline duration should be finalized against the team's actual semester milestones.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23AE9D"/>
                </a:solidFill>
                <a:latin typeface="Aptos"/>
              </a:rPr>
              <a:t>PROTOTYPE • ALIGNED TO ORIGINAL DTIE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Current Website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566928" cy="41148"/>
          </a:xfrm>
          <a:prstGeom prst="rect">
            <a:avLst/>
          </a:prstGeom>
          <a:solidFill>
            <a:srgbClr val="23AE9D"/>
          </a:solidFill>
          <a:ln>
            <a:solidFill>
              <a:srgbClr val="23A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77381"/>
                </a:solidFill>
                <a:latin typeface="Aptos"/>
              </a:rPr>
              <a:t>The original MVP prioritised campus navigation, free-room discovery, faculty cabin location and faculty timetable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349240" cy="1783080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A48"/>
                </a:solidFill>
                <a:latin typeface="Aptos"/>
              </a:rPr>
              <a:t>Campus Map</a:t>
            </a:r>
          </a:p>
        </p:txBody>
      </p:sp>
      <p:pic>
        <p:nvPicPr>
          <p:cNvPr id="8" name="Picture 7" descr="pan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011680"/>
            <a:ext cx="192024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61488" y="2075688"/>
            <a:ext cx="294436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2A3441"/>
                </a:solidFill>
                <a:latin typeface="Aptos"/>
              </a:rPr>
              <a:t>Show campus blocks and facilities as destinations.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664208"/>
            <a:ext cx="5349240" cy="1783080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A48"/>
                </a:solidFill>
                <a:latin typeface="Aptos"/>
              </a:rPr>
              <a:t>Free Classroom Finder</a:t>
            </a:r>
          </a:p>
        </p:txBody>
      </p:sp>
      <p:pic>
        <p:nvPicPr>
          <p:cNvPr id="12" name="Picture 11" descr="pane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192024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39912" y="2075688"/>
            <a:ext cx="294436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2A3441"/>
                </a:solidFill>
                <a:latin typeface="Aptos"/>
              </a:rPr>
              <a:t>Display room, block, capacity and availability.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75887"/>
            <a:ext cx="5349240" cy="1783080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749039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A48"/>
                </a:solidFill>
                <a:latin typeface="Aptos"/>
              </a:rPr>
              <a:t>Faculty Directory</a:t>
            </a:r>
          </a:p>
        </p:txBody>
      </p:sp>
      <p:pic>
        <p:nvPicPr>
          <p:cNvPr id="16" name="Picture 15" descr="panel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023359"/>
            <a:ext cx="1920240" cy="1280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61488" y="4087368"/>
            <a:ext cx="294436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2A3441"/>
                </a:solidFill>
                <a:latin typeface="Aptos"/>
              </a:rPr>
              <a:t>Find faculty and view department/location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75887"/>
            <a:ext cx="5349240" cy="1783080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749039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A48"/>
                </a:solidFill>
                <a:latin typeface="Aptos"/>
              </a:rPr>
              <a:t>Timetable</a:t>
            </a:r>
          </a:p>
        </p:txBody>
      </p:sp>
      <p:pic>
        <p:nvPicPr>
          <p:cNvPr id="20" name="Picture 19" descr="panel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4023359"/>
            <a:ext cx="1920240" cy="1280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39912" y="4087368"/>
            <a:ext cx="2944368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2A3441"/>
                </a:solidFill>
                <a:latin typeface="Aptos"/>
              </a:rPr>
              <a:t>Show class timings and classroom destinations.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797296"/>
            <a:ext cx="10972800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3168BE"/>
                </a:solidFill>
                <a:latin typeface="Aptos"/>
              </a:rPr>
              <a:t>Visual references only — use the live website for the demonstration and confirm each feature before describing it as working.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77381"/>
                </a:solidFill>
                <a:latin typeface="Aptos"/>
              </a:rPr>
              <a:t>AI-DRIVEN CAMPUS NAVIGATOR  •  DTIE • GROUP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77381"/>
                </a:solidFill>
                <a:latin typeface="Apto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064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23AE9D"/>
                </a:solidFill>
                <a:latin typeface="Aptos"/>
              </a:rPr>
              <a:t>DEMO PLAN • SCOPE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5568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142A48"/>
                </a:solidFill>
                <a:latin typeface="Aptos"/>
              </a:rPr>
              <a:t>Demonstration, AI Scope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566928" cy="41148"/>
          </a:xfrm>
          <a:prstGeom prst="rect">
            <a:avLst/>
          </a:prstGeom>
          <a:solidFill>
            <a:srgbClr val="23AE9D"/>
          </a:solidFill>
          <a:ln>
            <a:solidFill>
              <a:srgbClr val="23A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77381"/>
                </a:solidFill>
                <a:latin typeface="Aptos"/>
              </a:rPr>
              <a:t>Keep the presentation accurate: separate implemented functionality from future enhancements.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5413248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64208"/>
            <a:ext cx="5413248" cy="438912"/>
          </a:xfrm>
          <a:prstGeom prst="roundRect">
            <a:avLst>
              <a:gd name="adj" fmla="val 12000"/>
            </a:avLst>
          </a:prstGeom>
          <a:solidFill>
            <a:srgbClr val="142A48"/>
          </a:solidFill>
          <a:ln>
            <a:solidFill>
              <a:srgbClr val="14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5029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LIVE DEMO — TWO CORE USER JOURNEYS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04288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3AE9D"/>
                </a:solidFill>
                <a:latin typeface="Aptos"/>
              </a:rPr>
              <a:t>A. Find a faculty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46634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Open the website → search for a faculty member → check the listed cabin/location → show the route if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84448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3AE9D"/>
                </a:solidFill>
                <a:latin typeface="Aptos"/>
              </a:rPr>
              <a:t>B. Find a free classroom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66344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2A3441"/>
                </a:solidFill>
                <a:latin typeface="Aptos"/>
              </a:rPr>
              <a:t>Open the classroom finder → filter or search rooms → check availability details → select a room and show directions if available.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664208"/>
            <a:ext cx="5367528" cy="3401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664208"/>
            <a:ext cx="5367528" cy="438912"/>
          </a:xfrm>
          <a:prstGeom prst="roundRect">
            <a:avLst>
              <a:gd name="adj" fmla="val 12000"/>
            </a:avLst>
          </a:prstGeom>
          <a:solidFill>
            <a:srgbClr val="23AE9D"/>
          </a:solidFill>
          <a:ln>
            <a:solidFill>
              <a:srgbClr val="23A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755648"/>
            <a:ext cx="4983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CURRENT SCOPE VS FUTURE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04288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42A48"/>
                </a:solidFill>
                <a:latin typeface="Aptos"/>
              </a:rPr>
              <a:t>Describe only verified functionality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651760"/>
            <a:ext cx="4709160" cy="7132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A3441"/>
                </a:solidFill>
                <a:latin typeface="Aptos"/>
              </a:rPr>
              <a:t>Basic search, stored location data and predefined routes are not automatically AI. Do not claim live positioning, real-time availability or an AI model unless implemented.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29584"/>
            <a:ext cx="48006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168BE"/>
                </a:solidFill>
                <a:latin typeface="Aptos"/>
              </a:rPr>
              <a:t>Future enhancements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877056"/>
            <a:ext cx="47091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2A3441"/>
                </a:solidFill>
                <a:latin typeface="Aptos"/>
              </a:rPr>
              <a:t>Natural-language search, context-aware route recommendations, verified timetable integration and conversational guidance for freshers.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321808"/>
            <a:ext cx="10972800" cy="749808"/>
          </a:xfrm>
          <a:prstGeom prst="roundRect">
            <a:avLst>
              <a:gd name="adj" fmla="val 12000"/>
            </a:avLst>
          </a:prstGeom>
          <a:solidFill>
            <a:srgbClr val="F2F7F8"/>
          </a:solidFill>
          <a:ln>
            <a:solidFill>
              <a:srgbClr val="F2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49824"/>
            <a:ext cx="1060704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42A48"/>
                </a:solidFill>
                <a:latin typeface="Aptos"/>
              </a:rPr>
              <a:t>Validation: survey students and freshers; test faculty-location and free-room tasks; record real sample size, success rate and completion time. Do not invent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44768"/>
            <a:ext cx="10972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677381"/>
                </a:solidFill>
                <a:latin typeface="Aptos"/>
              </a:rPr>
              <a:t>Original DTIE MVP retained: campus navigation • digital map • free classroom discovery • faculty cabin locator • faculty timetable information.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1">
                <a:solidFill>
                  <a:srgbClr val="677381"/>
                </a:solidFill>
                <a:latin typeface="Aptos"/>
              </a:rPr>
              <a:t>AI-DRIVEN CAMPUS NAVIGATOR  •  DTIE • GROUP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685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800" b="0">
                <a:solidFill>
                  <a:srgbClr val="677381"/>
                </a:solidFill>
                <a:latin typeface="Apto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1190</Words>
  <Application>Microsoft Office PowerPoint</Application>
  <PresentationFormat>Widescreen</PresentationFormat>
  <Paragraphs>244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mangipudihaasini@outlook.com</cp:lastModifiedBy>
  <cp:revision>2</cp:revision>
  <dcterms:created xsi:type="dcterms:W3CDTF">2013-01-27T09:14:16Z</dcterms:created>
  <dcterms:modified xsi:type="dcterms:W3CDTF">2026-10-12T16:56:08Z</dcterms:modified>
  <cp:category/>
</cp:coreProperties>
</file>